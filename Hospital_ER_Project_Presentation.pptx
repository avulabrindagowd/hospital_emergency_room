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69" r:id="rId13"/>
    <p:sldId id="27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2060"/>
                </a:solidFill>
                <a:latin typeface="Calibri"/>
              </a:defRPr>
            </a:pPr>
            <a:r>
              <a:rPr lang="en-IN" sz="1600" b="0" i="0" u="none" strike="noStrike">
                <a:solidFill>
                  <a:srgbClr val="002060"/>
                </a:solidFill>
                <a:latin typeface="Calibri"/>
              </a:rPr>
              <a:t>Referrals by department (patients)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1B6F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No referral</c:v>
                </c:pt>
                <c:pt idx="1">
                  <c:v>General Practice</c:v>
                </c:pt>
                <c:pt idx="2">
                  <c:v>Orthopedics</c:v>
                </c:pt>
                <c:pt idx="3">
                  <c:v>Physiotherapy</c:v>
                </c:pt>
                <c:pt idx="4">
                  <c:v>Cardiology</c:v>
                </c:pt>
                <c:pt idx="5">
                  <c:v>Neurology</c:v>
                </c:pt>
                <c:pt idx="6">
                  <c:v>Gastroenterology</c:v>
                </c:pt>
                <c:pt idx="7">
                  <c:v>Renal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5400</c:v>
                </c:pt>
                <c:pt idx="1">
                  <c:v>1840</c:v>
                </c:pt>
                <c:pt idx="2">
                  <c:v>995</c:v>
                </c:pt>
                <c:pt idx="3">
                  <c:v>276</c:v>
                </c:pt>
                <c:pt idx="4">
                  <c:v>248</c:v>
                </c:pt>
                <c:pt idx="5">
                  <c:v>193</c:v>
                </c:pt>
                <c:pt idx="6">
                  <c:v>178</c:v>
                </c:pt>
                <c:pt idx="7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B8-4E98-B57F-2C3E495DA6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2060"/>
                </a:solidFill>
                <a:latin typeface="Calibri"/>
              </a:defRPr>
            </a:pPr>
            <a:r>
              <a:rPr lang="en-IN" sz="1600" b="0" i="0" u="none" strike="noStrike">
                <a:solidFill>
                  <a:srgbClr val="002060"/>
                </a:solidFill>
                <a:latin typeface="Calibri"/>
              </a:rPr>
              <a:t>Patients by race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White</c:v>
                </c:pt>
                <c:pt idx="1">
                  <c:v>African American</c:v>
                </c:pt>
                <c:pt idx="2">
                  <c:v>Two or More Races</c:v>
                </c:pt>
                <c:pt idx="3">
                  <c:v>Asian</c:v>
                </c:pt>
                <c:pt idx="4">
                  <c:v>Declined to Identify</c:v>
                </c:pt>
                <c:pt idx="5">
                  <c:v>Pacific Islander</c:v>
                </c:pt>
                <c:pt idx="6">
                  <c:v>Native American/Alaska Native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2571</c:v>
                </c:pt>
                <c:pt idx="1">
                  <c:v>1951</c:v>
                </c:pt>
                <c:pt idx="2">
                  <c:v>1557</c:v>
                </c:pt>
                <c:pt idx="3">
                  <c:v>1060</c:v>
                </c:pt>
                <c:pt idx="4">
                  <c:v>1030</c:v>
                </c:pt>
                <c:pt idx="5">
                  <c:v>549</c:v>
                </c:pt>
                <c:pt idx="6">
                  <c:v>498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82-4AC0-8BFB-AEAE5E6D4F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2060"/>
                </a:solidFill>
                <a:latin typeface="Calibri"/>
              </a:defRPr>
            </a:pPr>
            <a:r>
              <a:rPr lang="en-US" sz="1600" b="0" i="0" u="none" strike="noStrike">
                <a:solidFill>
                  <a:srgbClr val="002060"/>
                </a:solidFill>
                <a:latin typeface="Calibri"/>
              </a:rPr>
              <a:t>Patients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B6F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Saturday</c:v>
                </c:pt>
                <c:pt idx="1">
                  <c:v>Thursday</c:v>
                </c:pt>
                <c:pt idx="2">
                  <c:v>Sunday</c:v>
                </c:pt>
                <c:pt idx="3">
                  <c:v>Monday</c:v>
                </c:pt>
                <c:pt idx="4">
                  <c:v>Friday</c:v>
                </c:pt>
                <c:pt idx="5">
                  <c:v>Tuesday</c:v>
                </c:pt>
                <c:pt idx="6">
                  <c:v>Wednesday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1377</c:v>
                </c:pt>
                <c:pt idx="1">
                  <c:v>1332</c:v>
                </c:pt>
                <c:pt idx="2">
                  <c:v>1318</c:v>
                </c:pt>
                <c:pt idx="3">
                  <c:v>1314</c:v>
                </c:pt>
                <c:pt idx="4">
                  <c:v>1310</c:v>
                </c:pt>
                <c:pt idx="5">
                  <c:v>1305</c:v>
                </c:pt>
                <c:pt idx="6">
                  <c:v>1260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7F-489A-B6F9-F5B726D150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2060"/>
                </a:solidFill>
                <a:latin typeface="Calibri"/>
              </a:defRPr>
            </a:pPr>
            <a:r>
              <a:rPr lang="en-IN" sz="1600" b="0" i="0" u="none" strike="noStrike">
                <a:solidFill>
                  <a:srgbClr val="002060"/>
                </a:solidFill>
                <a:latin typeface="Calibri"/>
              </a:rPr>
              <a:t>Patients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0–9</c:v>
                </c:pt>
                <c:pt idx="1">
                  <c:v>10–19</c:v>
                </c:pt>
                <c:pt idx="2">
                  <c:v>20–29</c:v>
                </c:pt>
                <c:pt idx="3">
                  <c:v>30–39</c:v>
                </c:pt>
                <c:pt idx="4">
                  <c:v>40–49</c:v>
                </c:pt>
                <c:pt idx="5">
                  <c:v>50–59</c:v>
                </c:pt>
                <c:pt idx="6">
                  <c:v>60–69</c:v>
                </c:pt>
                <c:pt idx="7">
                  <c:v>70+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1056</c:v>
                </c:pt>
                <c:pt idx="1">
                  <c:v>1179</c:v>
                </c:pt>
                <c:pt idx="2">
                  <c:v>1188</c:v>
                </c:pt>
                <c:pt idx="3">
                  <c:v>1200</c:v>
                </c:pt>
                <c:pt idx="4">
                  <c:v>1135</c:v>
                </c:pt>
                <c:pt idx="5">
                  <c:v>1151</c:v>
                </c:pt>
                <c:pt idx="6">
                  <c:v>1154</c:v>
                </c:pt>
                <c:pt idx="7">
                  <c:v>1153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AC-4206-865F-1DF7DB8ADD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002060"/>
                </a:solidFill>
                <a:latin typeface="Calibri"/>
              </a:rPr>
              <a:t>Number of patients by admission hour (1 Apr 2023 – 30 Oct 2024)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01-D3A5-4156-AAEF-D5C499C68A7A}"/>
              </c:ext>
            </c:extLst>
          </c:dPt>
          <c:dPt>
            <c:idx val="1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03-D3A5-4156-AAEF-D5C499C68A7A}"/>
              </c:ext>
            </c:extLst>
          </c:dPt>
          <c:dPt>
            <c:idx val="2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05-D3A5-4156-AAEF-D5C499C68A7A}"/>
              </c:ext>
            </c:extLst>
          </c:dPt>
          <c:dPt>
            <c:idx val="3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07-D3A5-4156-AAEF-D5C499C68A7A}"/>
              </c:ext>
            </c:extLst>
          </c:dPt>
          <c:dPt>
            <c:idx val="4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09-D3A5-4156-AAEF-D5C499C68A7A}"/>
              </c:ext>
            </c:extLst>
          </c:dPt>
          <c:dPt>
            <c:idx val="5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0B-D3A5-4156-AAEF-D5C499C68A7A}"/>
              </c:ext>
            </c:extLst>
          </c:dPt>
          <c:dPt>
            <c:idx val="6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0D-D3A5-4156-AAEF-D5C499C68A7A}"/>
              </c:ext>
            </c:extLst>
          </c:dPt>
          <c:dPt>
            <c:idx val="7"/>
            <c:invertIfNegative val="1"/>
            <c:bubble3D val="0"/>
            <c:spPr>
              <a:solidFill>
                <a:srgbClr val="1B6FB8"/>
              </a:solidFill>
            </c:spPr>
            <c:extLst>
              <c:ext xmlns:c16="http://schemas.microsoft.com/office/drawing/2014/chart" uri="{C3380CC4-5D6E-409C-BE32-E72D297353CC}">
                <c16:uniqueId val="{0000000F-D3A5-4156-AAEF-D5C499C68A7A}"/>
              </c:ext>
            </c:extLst>
          </c:dPt>
          <c:dPt>
            <c:idx val="8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11-D3A5-4156-AAEF-D5C499C68A7A}"/>
              </c:ext>
            </c:extLst>
          </c:dPt>
          <c:dPt>
            <c:idx val="9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13-D3A5-4156-AAEF-D5C499C68A7A}"/>
              </c:ext>
            </c:extLst>
          </c:dPt>
          <c:dPt>
            <c:idx val="10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15-D3A5-4156-AAEF-D5C499C68A7A}"/>
              </c:ext>
            </c:extLst>
          </c:dPt>
          <c:dPt>
            <c:idx val="11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17-D3A5-4156-AAEF-D5C499C68A7A}"/>
              </c:ext>
            </c:extLst>
          </c:dPt>
          <c:dPt>
            <c:idx val="12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19-D3A5-4156-AAEF-D5C499C68A7A}"/>
              </c:ext>
            </c:extLst>
          </c:dPt>
          <c:dPt>
            <c:idx val="13"/>
            <c:invertIfNegative val="1"/>
            <c:bubble3D val="0"/>
            <c:spPr>
              <a:solidFill>
                <a:srgbClr val="1B6FB8"/>
              </a:solidFill>
            </c:spPr>
            <c:extLst>
              <c:ext xmlns:c16="http://schemas.microsoft.com/office/drawing/2014/chart" uri="{C3380CC4-5D6E-409C-BE32-E72D297353CC}">
                <c16:uniqueId val="{0000001B-D3A5-4156-AAEF-D5C499C68A7A}"/>
              </c:ext>
            </c:extLst>
          </c:dPt>
          <c:dPt>
            <c:idx val="14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1D-D3A5-4156-AAEF-D5C499C68A7A}"/>
              </c:ext>
            </c:extLst>
          </c:dPt>
          <c:dPt>
            <c:idx val="15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1F-D3A5-4156-AAEF-D5C499C68A7A}"/>
              </c:ext>
            </c:extLst>
          </c:dPt>
          <c:dPt>
            <c:idx val="16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21-D3A5-4156-AAEF-D5C499C68A7A}"/>
              </c:ext>
            </c:extLst>
          </c:dPt>
          <c:dPt>
            <c:idx val="17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23-D3A5-4156-AAEF-D5C499C68A7A}"/>
              </c:ext>
            </c:extLst>
          </c:dPt>
          <c:dPt>
            <c:idx val="18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25-D3A5-4156-AAEF-D5C499C68A7A}"/>
              </c:ext>
            </c:extLst>
          </c:dPt>
          <c:dPt>
            <c:idx val="19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27-D3A5-4156-AAEF-D5C499C68A7A}"/>
              </c:ext>
            </c:extLst>
          </c:dPt>
          <c:dPt>
            <c:idx val="20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29-D3A5-4156-AAEF-D5C499C68A7A}"/>
              </c:ext>
            </c:extLst>
          </c:dPt>
          <c:dPt>
            <c:idx val="21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2B-D3A5-4156-AAEF-D5C499C68A7A}"/>
              </c:ext>
            </c:extLst>
          </c:dPt>
          <c:dPt>
            <c:idx val="22"/>
            <c:invertIfNegative val="1"/>
            <c:bubble3D val="0"/>
            <c:spPr>
              <a:solidFill>
                <a:srgbClr val="9CC4EA"/>
              </a:solidFill>
            </c:spPr>
            <c:extLst>
              <c:ext xmlns:c16="http://schemas.microsoft.com/office/drawing/2014/chart" uri="{C3380CC4-5D6E-409C-BE32-E72D297353CC}">
                <c16:uniqueId val="{0000002D-D3A5-4156-AAEF-D5C499C68A7A}"/>
              </c:ext>
            </c:extLst>
          </c:dPt>
          <c:dPt>
            <c:idx val="23"/>
            <c:invertIfNegative val="1"/>
            <c:bubble3D val="0"/>
            <c:spPr>
              <a:solidFill>
                <a:srgbClr val="1B6FB8"/>
              </a:solidFill>
            </c:spPr>
            <c:extLst>
              <c:ext xmlns:c16="http://schemas.microsoft.com/office/drawing/2014/chart" uri="{C3380CC4-5D6E-409C-BE32-E72D297353CC}">
                <c16:uniqueId val="{0000002F-D3A5-4156-AAEF-D5C499C68A7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F2A37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</c:f>
              <c:strCache>
                <c:ptCount val="24"/>
                <c:pt idx="0">
                  <c:v>12 AM</c:v>
                </c:pt>
                <c:pt idx="1">
                  <c:v>1 AM</c:v>
                </c:pt>
                <c:pt idx="2">
                  <c:v>2 AM</c:v>
                </c:pt>
                <c:pt idx="3">
                  <c:v>3 AM</c:v>
                </c:pt>
                <c:pt idx="4">
                  <c:v>4 AM</c:v>
                </c:pt>
                <c:pt idx="5">
                  <c:v>5 AM</c:v>
                </c:pt>
                <c:pt idx="6">
                  <c:v>6 AM</c:v>
                </c:pt>
                <c:pt idx="7">
                  <c:v>7 AM</c:v>
                </c:pt>
                <c:pt idx="8">
                  <c:v>8 AM</c:v>
                </c:pt>
                <c:pt idx="9">
                  <c:v>9 AM</c:v>
                </c:pt>
                <c:pt idx="10">
                  <c:v>10 AM</c:v>
                </c:pt>
                <c:pt idx="11">
                  <c:v>11 AM</c:v>
                </c:pt>
                <c:pt idx="12">
                  <c:v>12 PM</c:v>
                </c:pt>
                <c:pt idx="13">
                  <c:v>1 PM</c:v>
                </c:pt>
                <c:pt idx="14">
                  <c:v>2 PM</c:v>
                </c:pt>
                <c:pt idx="15">
                  <c:v>3 PM</c:v>
                </c:pt>
                <c:pt idx="16">
                  <c:v>4 PM</c:v>
                </c:pt>
                <c:pt idx="17">
                  <c:v>5 PM</c:v>
                </c:pt>
                <c:pt idx="18">
                  <c:v>6 PM</c:v>
                </c:pt>
                <c:pt idx="19">
                  <c:v>7 PM</c:v>
                </c:pt>
                <c:pt idx="20">
                  <c:v>8 PM</c:v>
                </c:pt>
                <c:pt idx="21">
                  <c:v>9 PM</c:v>
                </c:pt>
                <c:pt idx="22">
                  <c:v>10 PM</c:v>
                </c:pt>
                <c:pt idx="23">
                  <c:v>11 PM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406</c:v>
                </c:pt>
                <c:pt idx="1">
                  <c:v>372</c:v>
                </c:pt>
                <c:pt idx="2">
                  <c:v>376</c:v>
                </c:pt>
                <c:pt idx="3">
                  <c:v>385</c:v>
                </c:pt>
                <c:pt idx="4">
                  <c:v>384</c:v>
                </c:pt>
                <c:pt idx="5">
                  <c:v>393</c:v>
                </c:pt>
                <c:pt idx="6">
                  <c:v>375</c:v>
                </c:pt>
                <c:pt idx="7">
                  <c:v>415</c:v>
                </c:pt>
                <c:pt idx="8">
                  <c:v>386</c:v>
                </c:pt>
                <c:pt idx="9">
                  <c:v>388</c:v>
                </c:pt>
                <c:pt idx="10">
                  <c:v>349</c:v>
                </c:pt>
                <c:pt idx="11">
                  <c:v>403</c:v>
                </c:pt>
                <c:pt idx="12">
                  <c:v>366</c:v>
                </c:pt>
                <c:pt idx="13">
                  <c:v>410</c:v>
                </c:pt>
                <c:pt idx="14">
                  <c:v>368</c:v>
                </c:pt>
                <c:pt idx="15">
                  <c:v>394</c:v>
                </c:pt>
                <c:pt idx="16">
                  <c:v>378</c:v>
                </c:pt>
                <c:pt idx="17">
                  <c:v>359</c:v>
                </c:pt>
                <c:pt idx="18">
                  <c:v>370</c:v>
                </c:pt>
                <c:pt idx="19">
                  <c:v>383</c:v>
                </c:pt>
                <c:pt idx="20">
                  <c:v>372</c:v>
                </c:pt>
                <c:pt idx="21">
                  <c:v>376</c:v>
                </c:pt>
                <c:pt idx="22">
                  <c:v>372</c:v>
                </c:pt>
                <c:pt idx="23">
                  <c:v>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D3A5-4156-AAEF-D5C499C68A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9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BI and MySQL: patient flow, wait times, satisfaction and referrals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April 2023 – October 2024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first in Power BI, then validated with MySQL queries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84832"/>
            <a:ext cx="548640" cy="548640"/>
          </a:xfrm>
          <a:prstGeom prst="ellipse">
            <a:avLst/>
          </a:prstGeom>
          <a:solidFill>
            <a:srgbClr val="1B6F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288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2084832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8288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Walkthrough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084832"/>
            <a:ext cx="548640" cy="548640"/>
          </a:xfrm>
          <a:prstGeom prst="ellipse">
            <a:avLst/>
          </a:prstGeom>
          <a:solidFill>
            <a:srgbClr val="1B6F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18288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 in Power BI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1540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2084832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784080" y="18288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Modeling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593592"/>
            <a:ext cx="548640" cy="548640"/>
          </a:xfrm>
          <a:prstGeom prst="ellipse">
            <a:avLst/>
          </a:prstGeom>
          <a:solidFill>
            <a:srgbClr val="1B6F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337560" y="32461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3593592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2044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126480" y="32461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593592"/>
            <a:ext cx="548640" cy="548640"/>
          </a:xfrm>
          <a:prstGeom prst="ellipse">
            <a:avLst/>
          </a:prstGeom>
          <a:solidFill>
            <a:srgbClr val="1B6F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Development &amp; Formatting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915400" y="324612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098280" y="3593592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9828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333756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 into MySQL Workbench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47548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5102352"/>
            <a:ext cx="548640" cy="548640"/>
          </a:xfrm>
          <a:prstGeom prst="ellipse">
            <a:avLst/>
          </a:prstGeom>
          <a:solidFill>
            <a:srgbClr val="1B6F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1417320" y="48463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for KPIs &amp; Charts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337560" y="47548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20440" y="5102352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52044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4206240" y="48463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SQL vs Dashboard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126480" y="475488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09360" y="5102352"/>
            <a:ext cx="548640" cy="548640"/>
          </a:xfrm>
          <a:prstGeom prst="ellipse">
            <a:avLst/>
          </a:prstGeom>
          <a:solidFill>
            <a:srgbClr val="1B6F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09360" y="5102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6995160" y="484632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Requirements: 4 KPIs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KPI is shown with a daily area sparkline to spot peaks, dips and trends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Patients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 visiting the ER each day. Identifies peak days and seasonal patterns.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14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before seeing a medical professional. Flags days needing operational changes.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Satisfaction Score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average satisfaction. Reveals dips linked to peak times or operational issues.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39319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Referred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referred to departments from the ER. Shows where extra resources are needed.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 page plus four report pages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View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KPIs and trends to find patterns and areas for improvement.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64992" y="173736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39312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3383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metrics aggregated over a selectable date range for broader trend analysis.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81344" y="173736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55664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Details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55664" y="3383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grid for granular analysis and troubleshooting.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97696" y="1737360"/>
            <a:ext cx="2651760" cy="39319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72016" y="1965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72016" y="33832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 of every metric, with patterns and recommendations.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in the Monthly and Consolidated Views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charts in both; the Consolidated view uses a custom date range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Status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vs. non-admitted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64992" y="1737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93592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Distribution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age groups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1344" y="1737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9944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Referrals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across departments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97696" y="173736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26296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226296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patients seen within 30 min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Analysis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by gender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64992" y="37033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593592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Demographics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3593592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by race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81344" y="37033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09944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09944" y="4526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by day and hour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Details Page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nine fields for patient-level analysis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Full Name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046720" y="173736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737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154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97680" y="31546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72000" y="3154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Date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046720" y="315468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1040" y="3154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Race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4572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297680" y="45720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72000" y="4572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Referral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046720" y="457200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21040" y="45720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Status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Monthly 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charts for a selected month, with daily sparklines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16836" y="1600200"/>
            <a:ext cx="79552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15B50B-5A80-1ED7-09F3-2B3E106D2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836" y="1600200"/>
            <a:ext cx="7955280" cy="46177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Consolidated 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metrics for the full period, 1 Apr 2023 to 30 Oct 2024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16836" y="1600200"/>
            <a:ext cx="79552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248A9F-B362-ABC7-0BAD-8B4BAD8F1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837" y="1600200"/>
            <a:ext cx="7955280" cy="45648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Key Takeaways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descriptive analysis of every metric and chart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16836" y="1600200"/>
            <a:ext cx="7955280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D9711D-427B-ED84-667B-FCFA487DDD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837" y="1600200"/>
            <a:ext cx="795528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Insights: The Numbers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2023 – October 2024 (19 months)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Consolidated View (1 Apr 2023 – 30 Oct 2024), confirmed by MySQL queries. Seen within 30 minutes = wait time of 30 minutes or less.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9,216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 min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011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4.99 / 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 (2,517 responses)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206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4,612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admitted (50%)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29768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4572000" y="4206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40.68%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 within 30 minutes (3,749 of 9,216)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04672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321040" y="42062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3,816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5166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to a department (5,400 had no referral)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and Demographics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72200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graphicFrame>
        <p:nvGraphicFramePr>
          <p:cNvPr id="6" name="Chart 0"/>
          <p:cNvGraphicFramePr/>
          <p:nvPr/>
        </p:nvGraphicFramePr>
        <p:xfrm>
          <a:off x="685800" y="1463040"/>
          <a:ext cx="5166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309360" y="1463040"/>
          <a:ext cx="5166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Periods and Patient 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172200" y="137160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1463040"/>
          <a:ext cx="5166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6309360" y="1463040"/>
          <a:ext cx="5166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volumes are close: 1,260 to 1,377 patients. Hourly volumes are on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by Hour of Day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PM, 7 AM and 1 PM are the busiest hours, but every hour sees 349 to 436 patients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45262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1645920"/>
          <a:ext cx="106984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in MySQL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Power BI dashboard was built, the same CSV was imported into MySQL Workbench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Import the CSV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9,216-row CSV was loaded into a MySQL table and its columns and data types were cleaned.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1965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Quality checks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1460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9,216 unique patient IDs with no duplicates. Dates run 1 Apr 2023 to 30 Oct 2024. 6,699 satisfaction scores are missing.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Recreate with SQL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7091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for the KPIs, monthly and daily trends, admission status, age groups, referrals, gender, race, day and hour, and wait intervals.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0" y="39319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92240" y="41605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 and correct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7091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results matched the dashboard KPIs. They also exposed wrong busiest days and hours in the first Key Takeaways text, which were fixed.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Query: Clean View (vw_er)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the data: referral NULLs, admission status, admit date and hour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48156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48156" y="1755648"/>
            <a:ext cx="96926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6C5B19-6A3F-F283-78B7-6FBB6D521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694" y="1763878"/>
            <a:ext cx="9611102" cy="44266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Query: Headline KPIs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9,216 patients, 35.3 min average wait, 4.99 satisfaction, 3,816 referred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48156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48156" y="1755648"/>
            <a:ext cx="9692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248156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48156" y="4270248"/>
            <a:ext cx="9692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C14372-A6C2-E642-BEDC-05D60938A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155" y="1828800"/>
            <a:ext cx="9473435" cy="20391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C0BB15-4FEF-8B68-8310-2DCCDE5F4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156" y="4325112"/>
            <a:ext cx="9692640" cy="17282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Query: Patients by Day of Week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Saturday is busiest with 1,377 patients, then Thursday 1,332 and Sunday 1,318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48156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48156" y="1755648"/>
            <a:ext cx="9692640" cy="1764792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248156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48156" y="4270248"/>
            <a:ext cx="9692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6B6303-3775-FD4A-6F35-71E55E6CE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235" y="1863160"/>
            <a:ext cx="7376799" cy="15658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E95A87-CD43-F46D-9025-40B31C065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265" y="4343401"/>
            <a:ext cx="7628281" cy="17298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Query: % Seen Within 30 Minutes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40.7% of patients had a wait time of 30 minutes or less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90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248156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48156" y="1755648"/>
            <a:ext cx="9692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1248156" y="3977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48156" y="4270248"/>
            <a:ext cx="9692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9CC4EA"/>
            </a:solidFill>
            <a:prstDash val="dash"/>
          </a:ln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6763E6-B88D-9022-B702-64F159324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734" y="1952177"/>
            <a:ext cx="8664691" cy="18151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62F329-66D9-0316-EFCA-C286DE5B4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3505" y="4452224"/>
            <a:ext cx="6143532" cy="1453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Results vs Power BI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checked metric matched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667570"/>
              </p:ext>
            </p:extLst>
          </p:nvPr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/>
              <a:tblGrid>
                <a:gridCol w="466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patients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wait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 min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satisfaction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Patients referred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Admitted / not admitted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4,612 / 4,604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4,612 / 4,604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Seen within 30 minutes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40.68%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Busiest day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(1,377)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Saturday (1,377)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the data supports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for peak times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60020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Saturdays are busiest, and 11 PM, 7 AM and 1 PM are the busiest hours. Differences are modest.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5146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35-minute wait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51460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40.68% are seen within 30 minutes. Review triage and patient flow.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4290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more satisfaction scores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42900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patients (6,699) have no score, so the 4.99 average rests on 2,517 responses.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43434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top referral departments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434340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Practice and Orthopedics take most referrals and need capacity.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642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525780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race data capture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525780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1,030 patients declined to identify their race; review how it is collected.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Skills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EMERGENCY ROOM DASHBOARD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report development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for KPIs, wait-time status and referrals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import, quality checks and SQL validation of every KPI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9525">
            <a:solidFill>
              <a:srgbClr val="D3E4F5"/>
            </a:solidFill>
            <a:prstDash val="solid"/>
          </a:ln>
          <a:effectLst>
            <a:outerShdw blurRad="101600" dist="25400" dir="5400000" algn="bl" rotWithShape="0">
              <a:srgbClr val="1B3A5C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8006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plus a date table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1099</Words>
  <Application>Microsoft Office PowerPoint</Application>
  <PresentationFormat>Widescreen</PresentationFormat>
  <Paragraphs>223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venkata narayana gowd avula</cp:lastModifiedBy>
  <cp:revision>3</cp:revision>
  <dcterms:created xsi:type="dcterms:W3CDTF">2026-09-30T06:07:55Z</dcterms:created>
  <dcterms:modified xsi:type="dcterms:W3CDTF">2026-09-30T10:15:17Z</dcterms:modified>
</cp:coreProperties>
</file>